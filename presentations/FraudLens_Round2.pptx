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5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3" r:id="rId25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70" r:id="rId22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22" Type="http://schemas.openxmlformats.org/officeDocument/2006/relationships/slide" Target="slides/slide15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FraudLens is a web app that tells ordinary people whether a message or link is a scam, and explains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828800"/>
            <a:ext cx="1188720" cy="1188720"/>
          </a:xfrm>
          <a:prstGeom prst="roundRect">
            <a:avLst>
              <a:gd name="adj" fmla="val 8000"/>
            </a:avLst>
          </a:prstGeom>
          <a:solidFill>
            <a:srgbClr val="2A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24128" y="1993392"/>
            <a:ext cx="658368" cy="658368"/>
          </a:xfrm>
          <a:prstGeom prst="donu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591056" y="2560320"/>
            <a:ext cx="237744" cy="237744"/>
          </a:xfrm>
          <a:prstGeom prst="line">
            <a:avLst/>
          </a:prstGeom>
          <a:ln w="1143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86000" y="1691640"/>
            <a:ext cx="91440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Segoe UI"/>
              </a:rPr>
              <a:t>FraudLens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606040"/>
            <a:ext cx="9144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0">
                <a:solidFill>
                  <a:srgbClr val="C7D2FE"/>
                </a:solidFill>
                <a:latin typeface="Segoe UI"/>
              </a:rPr>
              <a:t>Explainable phishing &amp; digital-fraud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3192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Segoe UI"/>
              </a:rPr>
              <a:t>Paste an SMS, WhatsApp message, email or link — get a risk score, the scam type,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Segoe UI"/>
              </a:rPr>
              <a:t>every warning sign with evidence, and what to do next.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Segoe UI"/>
              </a:rPr>
              <a:t>Round 2 · Inside the detection engine  ·  Brief CC6-AI05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C7D2FE"/>
                </a:solidFill>
                <a:latin typeface="Segoe UI"/>
              </a:rPr>
              <a:t>A layered pipeline: every layer adds points and an explanation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Segoe U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B6475"/>
                </a:solidFill>
                <a:latin typeface="Segoe UI"/>
              </a:rPr>
              <a:t>FraudLens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34290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64008" cy="1837944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3063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>
                <a:solidFill>
                  <a:srgbClr val="1F3A8A"/>
                </a:solidFill>
                <a:latin typeface="Segoe UI"/>
              </a:rPr>
              <a:t>1. Normalise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30632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B6475"/>
                </a:solidFill>
                <a:latin typeface="Segoe UI"/>
              </a:rPr>
              <a:t>Unicode clean-up, strip hidden characters, undo hxxp / [.] / 'K.Y.C' / 'bl0cked'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05072" y="2331720"/>
            <a:ext cx="301752" cy="27432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3400" y="1463040"/>
            <a:ext cx="34290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572768"/>
            <a:ext cx="64008" cy="1837944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600200"/>
            <a:ext cx="3063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>
                <a:solidFill>
                  <a:srgbClr val="1F3A8A"/>
                </a:solidFill>
                <a:latin typeface="Segoe UI"/>
              </a:rPr>
              <a:t>2. Email headers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057400"/>
            <a:ext cx="30632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B6475"/>
                </a:solidFill>
                <a:latin typeface="Segoe UI"/>
              </a:rPr>
              <a:t>Brand vs sender domain, free-mail 'official', Reply-To mismatch, SPF/DKIM/DMARC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799832" y="2331720"/>
            <a:ext cx="301752" cy="27432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60" y="1463040"/>
            <a:ext cx="34290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572768"/>
            <a:ext cx="64008" cy="1837944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600200"/>
            <a:ext cx="3063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>
                <a:solidFill>
                  <a:srgbClr val="1F3A8A"/>
                </a:solidFill>
                <a:latin typeface="Segoe UI"/>
              </a:rPr>
              <a:t>3. Text 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057400"/>
            <a:ext cx="30632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B6475"/>
                </a:solidFill>
                <a:latin typeface="Segoe UI"/>
              </a:rPr>
              <a:t>20 weighted Indian-context fraud patterns + 2 'genuine message' patterns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40480"/>
            <a:ext cx="34290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950208"/>
            <a:ext cx="64008" cy="1837944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977640"/>
            <a:ext cx="3063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>
                <a:solidFill>
                  <a:srgbClr val="1F3A8A"/>
                </a:solidFill>
                <a:latin typeface="Segoe UI"/>
              </a:rPr>
              <a:t>4. Text 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434840"/>
            <a:ext cx="30632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B6475"/>
                </a:solidFill>
                <a:latin typeface="Segoe UI"/>
              </a:rPr>
              <a:t>TF-IDF + logistic regression; shows the words that pushed the score up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005072" y="4709160"/>
            <a:ext cx="301752" cy="27432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43400" y="3840480"/>
            <a:ext cx="34290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3950208"/>
            <a:ext cx="64008" cy="1837944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3977640"/>
            <a:ext cx="3063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>
                <a:solidFill>
                  <a:srgbClr val="1F3A8A"/>
                </a:solidFill>
                <a:latin typeface="Segoe UI"/>
              </a:rPr>
              <a:t>5. Each URL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434840"/>
            <a:ext cx="30632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B6475"/>
                </a:solidFill>
                <a:latin typeface="Segoe UI"/>
              </a:rPr>
              <a:t>Threat intel, reputation, look-alikes, punycode, shorteners, URL ML, optional live check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799832" y="4709160"/>
            <a:ext cx="301752" cy="27432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38160" y="3840480"/>
            <a:ext cx="34290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3950208"/>
            <a:ext cx="64008" cy="18379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3977640"/>
            <a:ext cx="3063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>
                <a:solidFill>
                  <a:srgbClr val="F59E0B"/>
                </a:solidFill>
                <a:latin typeface="Segoe UI"/>
              </a:rPr>
              <a:t>6. Score &amp; advise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434840"/>
            <a:ext cx="30632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B6475"/>
                </a:solidFill>
                <a:latin typeface="Segoe UI"/>
              </a:rPr>
              <a:t>Combine points → 0–100 → level → scam type → advice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Rules: message text and email headers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C7D2FE"/>
                </a:solidFill>
                <a:latin typeface="Segoe UI"/>
              </a:rPr>
              <a:t>Hand-written, weighted, and always explained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Segoe 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B6475"/>
                </a:solidFill>
                <a:latin typeface="Segoe UI"/>
              </a:rPr>
              <a:t>FraudLens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548640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64008" cy="4443984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1">
                <a:solidFill>
                  <a:srgbClr val="1F3A8A"/>
                </a:solidFill>
                <a:latin typeface="Segoe UI"/>
              </a:rPr>
              <a:t>Text rules (text_rules.py)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516636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111827"/>
                </a:solidFill>
                <a:latin typeface="Segoe UI"/>
              </a:rPr>
              <a:t>•  KYC / PAN / Aadhaar update demands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11827"/>
                </a:solidFill>
                <a:latin typeface="Segoe UI"/>
              </a:rPr>
              <a:t>•  Threats: account block, penalty, arrest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11827"/>
                </a:solidFill>
                <a:latin typeface="Segoe UI"/>
              </a:rPr>
              <a:t>•  Requests for OTP, PIN, passwords, card details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11827"/>
                </a:solidFill>
                <a:latin typeface="Segoe UI"/>
              </a:rPr>
              <a:t>•  Payment requests, fees, UPI 'collect' tricks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11827"/>
                </a:solidFill>
                <a:latin typeface="Segoe UI"/>
              </a:rPr>
              <a:t>•  Job, prize, loan and investment lures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11827"/>
                </a:solidFill>
                <a:latin typeface="Segoe UI"/>
              </a:rPr>
              <a:t>•  Secrecy and 'move to WhatsApp' pressure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11827"/>
                </a:solidFill>
                <a:latin typeface="Segoe UI"/>
              </a:rPr>
              <a:t>•  Reassurance patterns lower the 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63040"/>
            <a:ext cx="539496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572768"/>
            <a:ext cx="64008" cy="4443984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60020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1">
                <a:solidFill>
                  <a:srgbClr val="1F3A8A"/>
                </a:solidFill>
                <a:latin typeface="Segoe UI"/>
              </a:rPr>
              <a:t>Email rules (email_rules.py)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57400"/>
            <a:ext cx="50749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111827"/>
                </a:solidFill>
                <a:latin typeface="Segoe UI"/>
              </a:rPr>
              <a:t>•  Brand in display name, not in sender domain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11827"/>
                </a:solidFill>
                <a:latin typeface="Segoe UI"/>
              </a:rPr>
              <a:t>•  'Official' notices from Gmail / Yahoo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11827"/>
                </a:solidFill>
                <a:latin typeface="Segoe UI"/>
              </a:rPr>
              <a:t>•  Reply-To or Return-Path pointing elsewhere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11827"/>
                </a:solidFill>
                <a:latin typeface="Segoe UI"/>
              </a:rPr>
              <a:t>•  SPF, DKIM or DMARC failures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11827"/>
                </a:solidFill>
                <a:latin typeface="Segoe UI"/>
              </a:rPr>
              <a:t>•  Text is normalised first, so disguised words like 'K.Y.C' still match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Link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C7D2FE"/>
                </a:solidFill>
                <a:latin typeface="Segoe UI"/>
              </a:rPr>
              <a:t>Each link is scored on its own; the riskiest one 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Segoe U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B6475"/>
                </a:solidFill>
                <a:latin typeface="Segoe UI"/>
              </a:rPr>
              <a:t>FraudLens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27048"/>
            <a:ext cx="64008" cy="1197864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5448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1F3A8A"/>
                </a:solidFill>
                <a:latin typeface="Segoe UI"/>
              </a:rPr>
              <a:t>Brand on wrong domain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3200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B6475"/>
                </a:solidFill>
                <a:latin typeface="Segoe UI"/>
              </a:rPr>
              <a:t>'sbi' in sbi-yono-kyc.xyz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141732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1527048"/>
            <a:ext cx="64008" cy="1197864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79" y="155448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1F3A8A"/>
                </a:solidFill>
                <a:latin typeface="Segoe UI"/>
              </a:rPr>
              <a:t>Typosquatting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2011680"/>
            <a:ext cx="3200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B6475"/>
                </a:solidFill>
                <a:latin typeface="Segoe UI"/>
              </a:rPr>
              <a:t>Edit distance + look-alike characters (paypa1)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41732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9" y="1527048"/>
            <a:ext cx="64008" cy="1197864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155448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1F3A8A"/>
                </a:solidFill>
                <a:latin typeface="Segoe UI"/>
              </a:rPr>
              <a:t>Punycode / IDN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011680"/>
            <a:ext cx="3200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B6475"/>
                </a:solidFill>
                <a:latin typeface="Segoe UI"/>
              </a:rPr>
              <a:t>Unicode domains that look like real ones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01752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127248"/>
            <a:ext cx="64008" cy="1197864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15468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1F3A8A"/>
                </a:solidFill>
                <a:latin typeface="Segoe UI"/>
              </a:rPr>
              <a:t>Raw IP &amp; '@' trick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611880"/>
            <a:ext cx="3200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B6475"/>
                </a:solidFill>
                <a:latin typeface="Segoe UI"/>
              </a:rPr>
              <a:t>http://1.2.3.4, user@evil.com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301752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79" y="3127248"/>
            <a:ext cx="64008" cy="1197864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79" y="315468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1F3A8A"/>
                </a:solidFill>
                <a:latin typeface="Segoe UI"/>
              </a:rPr>
              <a:t>Shorteners &amp; free hosting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79" y="3611880"/>
            <a:ext cx="3200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B6475"/>
                </a:solidFill>
                <a:latin typeface="Segoe UI"/>
              </a:rPr>
              <a:t>Hidden destinations, throwaway sites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301752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19" y="3127248"/>
            <a:ext cx="64008" cy="1197864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19" y="315468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1F3A8A"/>
                </a:solidFill>
                <a:latin typeface="Segoe UI"/>
              </a:rPr>
              <a:t>Risky endings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3611880"/>
            <a:ext cx="3200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B6475"/>
                </a:solidFill>
                <a:latin typeface="Segoe UI"/>
              </a:rPr>
              <a:t>.xyz, .top and similar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61772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727448"/>
            <a:ext cx="64008" cy="1197864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75488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1F3A8A"/>
                </a:solidFill>
                <a:latin typeface="Segoe UI"/>
              </a:rPr>
              <a:t>Redirect parameters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212080"/>
            <a:ext cx="3200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B6475"/>
                </a:solidFill>
                <a:latin typeface="Segoe UI"/>
              </a:rPr>
              <a:t>?url=… pointing somewhere else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79" y="461772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97679" y="4727448"/>
            <a:ext cx="64008" cy="1197864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79" y="475488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1F3A8A"/>
                </a:solidFill>
                <a:latin typeface="Segoe UI"/>
              </a:rPr>
              <a:t>Reputation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279" y="5212080"/>
            <a:ext cx="3200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B6475"/>
                </a:solidFill>
                <a:latin typeface="Segoe UI"/>
              </a:rPr>
              <a:t>Tranco top-100k sites lower the risk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19" y="461772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6719" y="4727448"/>
            <a:ext cx="64008" cy="1197864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5319" y="475488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1F3A8A"/>
                </a:solidFill>
                <a:latin typeface="Segoe UI"/>
              </a:rPr>
              <a:t>URL ML 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19" y="5212080"/>
            <a:ext cx="3200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B6475"/>
                </a:solidFill>
                <a:latin typeface="Segoe UI"/>
              </a:rPr>
              <a:t>Character n-gram classifier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C7D2FE"/>
                </a:solidFill>
                <a:latin typeface="Segoe UI"/>
              </a:rPr>
              <a:t>Trained with scikit-learn, run in pure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Segoe U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B6475"/>
                </a:solidFill>
                <a:latin typeface="Segoe UI"/>
              </a:rPr>
              <a:t>FraudLens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548640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64008" cy="2157984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>
                <a:solidFill>
                  <a:srgbClr val="1F3A8A"/>
                </a:solidFill>
                <a:latin typeface="Segoe UI"/>
              </a:rPr>
              <a:t>Text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51663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111827"/>
                </a:solidFill>
                <a:latin typeface="Segoe UI"/>
              </a:rPr>
              <a:t>•  TF-IDF on words and word pairs + logistic regression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11827"/>
                </a:solidFill>
                <a:latin typeface="Segoe UI"/>
              </a:rPr>
              <a:t>•  Trained on ~16,000 labelled messages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11827"/>
                </a:solidFill>
                <a:latin typeface="Segoe UI"/>
              </a:rPr>
              <a:t>•  Shows the top words behind each 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63040"/>
            <a:ext cx="53949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572768"/>
            <a:ext cx="64008" cy="2157984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60020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>
                <a:solidFill>
                  <a:srgbClr val="1F3A8A"/>
                </a:solidFill>
                <a:latin typeface="Segoe UI"/>
              </a:rPr>
              <a:t>URL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57400"/>
            <a:ext cx="50749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111827"/>
                </a:solidFill>
                <a:latin typeface="Segoe UI"/>
              </a:rPr>
              <a:t>•  TF-IDF on character n-grams + logistic regression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11827"/>
                </a:solidFill>
                <a:latin typeface="Segoe UI"/>
              </a:rPr>
              <a:t>•  Trained on hundreds of thousands of URLs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11827"/>
                </a:solidFill>
                <a:latin typeface="Segoe UI"/>
              </a:rPr>
              <a:t>•  Catches odd-looking addresses rules miss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80"/>
            <a:ext cx="111099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178808"/>
            <a:ext cx="64008" cy="18379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06240"/>
            <a:ext cx="10744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>
                <a:solidFill>
                  <a:srgbClr val="F59E0B"/>
                </a:solidFill>
                <a:latin typeface="Segoe UI"/>
              </a:rPr>
              <a:t>Why export to JSON?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6344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111827"/>
                </a:solidFill>
                <a:latin typeface="Segoe UI"/>
              </a:rPr>
              <a:t>•  Models are saved as plain JSON (app/model/*.json); ml.py re-implements the maths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11827"/>
                </a:solidFill>
                <a:latin typeface="Segoe UI"/>
              </a:rPr>
              <a:t>•  The deployed app needs no NumPy or scikit-learn — only FastAPI, Uvicorn and tldextract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11827"/>
                </a:solidFill>
                <a:latin typeface="Segoe UI"/>
              </a:rPr>
              <a:t>•  Data: Hugging Face 'ealvaradob/phishing-dataset' (Apache-2.0) + Tranco top-1M list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Threat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C7D2FE"/>
                </a:solidFill>
                <a:latin typeface="Segoe UI"/>
              </a:rPr>
              <a:t>Known-bad lists checked locally — nothing is sent to third parties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Segoe U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B6475"/>
                </a:solidFill>
                <a:latin typeface="Segoe UI"/>
              </a:rPr>
              <a:t>FraudLens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1099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4572000"/>
                <a:gridCol w="306324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Source</a:t>
                      </a:r>
                    </a:p>
                  </a:txBody>
                  <a:tcPr anchor="ctr">
                    <a:solidFill>
                      <a:srgbClr val="1F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What it gives</a:t>
                      </a:r>
                    </a:p>
                  </a:txBody>
                  <a:tcPr anchor="ctr">
                    <a:solidFill>
                      <a:srgbClr val="1F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Entries (latest fetch)</a:t>
                      </a:r>
                    </a:p>
                  </a:txBody>
                  <a:tcPr anchor="ctr">
                    <a:solidFill>
                      <a:srgbClr val="1F3A8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827"/>
                          </a:solidFill>
                          <a:latin typeface="Segoe UI"/>
                        </a:rPr>
                        <a:t>OpenPhish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827"/>
                          </a:solidFill>
                          <a:latin typeface="Segoe UI"/>
                        </a:rPr>
                        <a:t>Live phishing URLs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11827"/>
                          </a:solidFill>
                          <a:latin typeface="Segoe UI"/>
                        </a:rPr>
                        <a:t>300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827"/>
                          </a:solidFill>
                          <a:latin typeface="Segoe UI"/>
                        </a:rPr>
                        <a:t>URLhaus (abuse.ch)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827"/>
                          </a:solidFill>
                          <a:latin typeface="Segoe UI"/>
                        </a:rPr>
                        <a:t>URLs spreading malware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11827"/>
                          </a:solidFill>
                          <a:latin typeface="Segoe UI"/>
                        </a:rPr>
                        <a:t>27,209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827"/>
                          </a:solidFill>
                          <a:latin typeface="Segoe UI"/>
                        </a:rPr>
                        <a:t>Phishing.Database + the above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827"/>
                          </a:solidFill>
                          <a:latin typeface="Segoe UI"/>
                        </a:rPr>
                        <a:t>Known-bad hostnames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11827"/>
                          </a:solidFill>
                          <a:latin typeface="Segoe UI"/>
                        </a:rPr>
                        <a:t>394,231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827"/>
                          </a:solidFill>
                          <a:latin typeface="Segoe UI"/>
                        </a:rPr>
                        <a:t>Tranco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827"/>
                          </a:solidFill>
                          <a:latin typeface="Segoe UI"/>
                        </a:rPr>
                        <a:t>Most popular domains, ranked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11827"/>
                          </a:solidFill>
                          <a:latin typeface="Segoe UI"/>
                        </a:rPr>
                        <a:t>100,000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29768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11827"/>
                </a:solidFill>
                <a:latin typeface="Segoe UI"/>
              </a:rPr>
              <a:t>•  An intel match</a:t>
            </a:r>
            <a:r>
              <a:rPr sz="1600">
                <a:solidFill>
                  <a:srgbClr val="5B6475"/>
                </a:solidFill>
                <a:latin typeface="Segoe UI"/>
              </a:rPr>
              <a:t> — sets the score to at least 90 (high risk)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11827"/>
                </a:solidFill>
                <a:latin typeface="Segoe UI"/>
              </a:rPr>
              <a:t>•  Big shared platforms</a:t>
            </a:r>
            <a:r>
              <a:rPr sz="1600">
                <a:solidFill>
                  <a:srgbClr val="5B6475"/>
                </a:solidFill>
                <a:latin typeface="Segoe UI"/>
              </a:rPr>
              <a:t> — (e.g. docs.google.com) only match on the exact URL, not the whole host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11827"/>
                </a:solidFill>
                <a:latin typeface="Segoe UI"/>
              </a:rPr>
              <a:t>•  Refresh</a:t>
            </a:r>
            <a:r>
              <a:rPr sz="1600">
                <a:solidFill>
                  <a:srgbClr val="5B6475"/>
                </a:solidFill>
                <a:latin typeface="Segoe UI"/>
              </a:rPr>
              <a:t> — scripts/fetch_intel.py downloads the lists into app/model/intel/*.gz — run daily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Scoring and risk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C7D2FE"/>
                </a:solidFill>
                <a:latin typeface="Segoe UI"/>
              </a:rPr>
              <a:t>Transparent arithmetic — every point is shown to the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Segoe U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B6475"/>
                </a:solidFill>
                <a:latin typeface="Segoe UI"/>
              </a:rPr>
              <a:t>FraudLens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111099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1060704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1F3A8A"/>
                </a:solidFill>
                <a:latin typeface="Consolas"/>
              </a:rPr>
              <a:t>score = text rules (≤70) + email + text ML + combo bonuses + riskiest link</a:t>
            </a:r>
          </a:p>
          <a:p>
            <a:pPr algn="l"/>
            <a:r>
              <a:rPr sz="1700" b="1">
                <a:solidFill>
                  <a:srgbClr val="1F3A8A"/>
                </a:solidFill>
                <a:latin typeface="Consolas"/>
              </a:rPr>
              <a:t>clamped to 0–100;  a threat-intel match ⇒ at least 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2608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E8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166534"/>
                </a:solidFill>
                <a:latin typeface="Segoe UI"/>
              </a:rPr>
              <a:t>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7472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6534"/>
                </a:solidFill>
                <a:latin typeface="Segoe UI"/>
              </a:rPr>
              <a:t>0 – 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77639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Segoe UI"/>
              </a:rPr>
              <a:t>No strong signs found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292608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1999" y="301752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92400E"/>
                </a:solidFill>
                <a:latin typeface="Segoe UI"/>
              </a:rPr>
              <a:t>MEDIUM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347472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92400E"/>
                </a:solidFill>
                <a:latin typeface="Segoe UI"/>
              </a:rPr>
              <a:t>30 – 59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1999" y="3977639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Segoe UI"/>
              </a:rPr>
              <a:t>Be careful, verify first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292608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FD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39" y="301752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B91C1C"/>
                </a:solidFill>
                <a:latin typeface="Segoe UI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9" y="347472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B91C1C"/>
                </a:solidFill>
                <a:latin typeface="Segoe UI"/>
              </a:rPr>
              <a:t>60 – 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39" y="3977639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Segoe UI"/>
              </a:rPr>
              <a:t>Likely scam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0916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11827"/>
                </a:solidFill>
                <a:latin typeface="Segoe UI"/>
              </a:rPr>
              <a:t>•  Combination bonuses</a:t>
            </a:r>
            <a:r>
              <a:rPr sz="1500">
                <a:solidFill>
                  <a:srgbClr val="5B6475"/>
                </a:solidFill>
                <a:latin typeface="Segoe UI"/>
              </a:rPr>
              <a:t> — e.g. threat + payment request, credential request + link, job + fee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11827"/>
                </a:solidFill>
                <a:latin typeface="Segoe UI"/>
              </a:rPr>
              <a:t>•  Reassurance</a:t>
            </a:r>
            <a:r>
              <a:rPr sz="1500">
                <a:solidFill>
                  <a:srgbClr val="5B6475"/>
                </a:solidFill>
                <a:latin typeface="Segoe UI"/>
              </a:rPr>
              <a:t> — messages with no link and no request for action lose 10 points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11827"/>
                </a:solidFill>
                <a:latin typeface="Segoe UI"/>
              </a:rPr>
              <a:t>•  Flagged</a:t>
            </a:r>
            <a:r>
              <a:rPr sz="1500">
                <a:solidFill>
                  <a:srgbClr val="5B6475"/>
                </a:solidFill>
                <a:latin typeface="Segoe UI"/>
              </a:rPr>
              <a:t> — means medium or high (score ≥ 30) in the evaluation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13 scam types, each with tailored advice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C7D2FE"/>
                </a:solidFill>
                <a:latin typeface="Segoe UI"/>
              </a:rPr>
              <a:t>guidance.py maps the matched signals to a 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Segoe U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B6475"/>
                </a:solidFill>
                <a:latin typeface="Segoe UI"/>
              </a:rPr>
              <a:t>FraudLens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246888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>
                <a:solidFill>
                  <a:srgbClr val="1F3A8A"/>
                </a:solidFill>
                <a:latin typeface="Segoe UI"/>
              </a:rPr>
              <a:t>Fake bank / KYC alert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146304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7287" y="1463040"/>
            <a:ext cx="246888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>
                <a:solidFill>
                  <a:srgbClr val="1F3A8A"/>
                </a:solidFill>
                <a:latin typeface="Segoe UI"/>
              </a:rPr>
              <a:t>Fraudulent payment request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5" y="146304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4496" y="1463040"/>
            <a:ext cx="246888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>
                <a:solidFill>
                  <a:srgbClr val="1F3A8A"/>
                </a:solidFill>
                <a:latin typeface="Segoe UI"/>
              </a:rPr>
              <a:t>Government / police impersonation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0263" y="146304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3" y="1463040"/>
            <a:ext cx="246888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>
                <a:solidFill>
                  <a:srgbClr val="1F3A8A"/>
                </a:solidFill>
                <a:latin typeface="Segoe UI"/>
              </a:rPr>
              <a:t>'Digital arrest' scam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33172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331720"/>
            <a:ext cx="246888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>
                <a:solidFill>
                  <a:srgbClr val="1F3A8A"/>
                </a:solidFill>
                <a:latin typeface="Segoe UI"/>
              </a:rPr>
              <a:t>Fake job / task scam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55848" y="233172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47287" y="2331720"/>
            <a:ext cx="246888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>
                <a:solidFill>
                  <a:srgbClr val="1F3A8A"/>
                </a:solidFill>
                <a:latin typeface="Segoe UI"/>
              </a:rPr>
              <a:t>Investment / trading scam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5" y="233172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2331720"/>
            <a:ext cx="246888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>
                <a:solidFill>
                  <a:srgbClr val="1F3A8A"/>
                </a:solidFill>
                <a:latin typeface="Segoe UI"/>
              </a:rPr>
              <a:t>Prize / lottery scam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0263" y="233172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61703" y="2331720"/>
            <a:ext cx="246888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>
                <a:solidFill>
                  <a:srgbClr val="1F3A8A"/>
                </a:solidFill>
                <a:latin typeface="Segoe UI"/>
              </a:rPr>
              <a:t>Courier / delivery scam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20040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200400"/>
            <a:ext cx="246888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>
                <a:solidFill>
                  <a:srgbClr val="1F3A8A"/>
                </a:solidFill>
                <a:latin typeface="Segoe UI"/>
              </a:rPr>
              <a:t>Remote-access / tech support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55848" y="320040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47287" y="3200400"/>
            <a:ext cx="246888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>
                <a:solidFill>
                  <a:srgbClr val="1F3A8A"/>
                </a:solidFill>
                <a:latin typeface="Segoe UI"/>
              </a:rPr>
              <a:t>Loan scam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5" y="320040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3200400"/>
            <a:ext cx="246888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>
                <a:solidFill>
                  <a:srgbClr val="1F3A8A"/>
                </a:solidFill>
                <a:latin typeface="Segoe UI"/>
              </a:rPr>
              <a:t>Family / friend impersonation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70263" y="320040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61703" y="3200400"/>
            <a:ext cx="246888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>
                <a:solidFill>
                  <a:srgbClr val="1F3A8A"/>
                </a:solidFill>
                <a:latin typeface="Segoe UI"/>
              </a:rPr>
              <a:t>Credential phishing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069079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069079"/>
            <a:ext cx="246888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>
                <a:solidFill>
                  <a:srgbClr val="1F3A8A"/>
                </a:solidFill>
                <a:latin typeface="Segoe UI"/>
              </a:rPr>
              <a:t>Malware link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120640"/>
            <a:ext cx="11109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166360"/>
            <a:ext cx="10607040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Segoe UI"/>
              </a:rPr>
              <a:t>Advice always includes how to verify independently and where to report:</a:t>
            </a:r>
          </a:p>
          <a:p>
            <a:pPr algn="l"/>
            <a:r>
              <a:rPr sz="1600" b="0">
                <a:solidFill>
                  <a:srgbClr val="111827"/>
                </a:solidFill>
                <a:latin typeface="Segoe UI"/>
              </a:rPr>
              <a:t>1930 helpline · cybercrime.gov.in · forward SMS to 7726 · sancharsaathi.gov.in (Chakshu)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Project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C7D2FE"/>
                </a:solidFill>
                <a:latin typeface="Segoe UI"/>
              </a:rPr>
              <a:t>How the code is organised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B6475"/>
                </a:solidFill>
                <a:latin typeface="Segoe UI"/>
              </a:rPr>
              <a:t>FraudLens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109960" cy="47548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>
                <a:solidFill>
                  <a:srgbClr val="E5E7EB"/>
                </a:solidFill>
                <a:latin typeface="Consolas"/>
              </a:rPr>
              <a:t>app/</a:t>
            </a:r>
          </a:p>
          <a:p>
            <a:pPr algn="l"/>
            <a:r>
              <a:rPr sz="1800" b="0">
                <a:solidFill>
                  <a:srgbClr val="E5E7EB"/>
                </a:solidFill>
                <a:latin typeface="Consolas"/>
              </a:rPr>
              <a:t>  main.py              FastAPI app: API, pages, security headers, rate limit</a:t>
            </a:r>
          </a:p>
          <a:p>
            <a:pPr algn="l"/>
            <a:r>
              <a:rPr sz="1800" b="0">
                <a:solidFill>
                  <a:srgbClr val="E5E7EB"/>
                </a:solidFill>
                <a:latin typeface="Consolas"/>
              </a:rPr>
              <a:t>  analyzer/            normalize · text_rules · email_rules · url_rules</a:t>
            </a:r>
          </a:p>
          <a:p>
            <a:pPr algn="l"/>
            <a:r>
              <a:rPr sz="1800" b="0">
                <a:solidFill>
                  <a:srgbClr val="E5E7EB"/>
                </a:solidFill>
                <a:latin typeface="Consolas"/>
              </a:rPr>
              <a:t>                       intel · ml · live_check · guidance · engine</a:t>
            </a:r>
          </a:p>
          <a:p>
            <a:pPr algn="l"/>
            <a:r>
              <a:rPr sz="1800" b="0">
                <a:solidFill>
                  <a:srgbClr val="E5E7EB"/>
                </a:solidFill>
                <a:latin typeface="Consolas"/>
              </a:rPr>
              <a:t>  model/               text_model.json, url_model.json, eval_report.json</a:t>
            </a:r>
          </a:p>
          <a:p>
            <a:pPr algn="l"/>
            <a:r>
              <a:rPr sz="1800" b="0">
                <a:solidFill>
                  <a:srgbClr val="E5E7EB"/>
                </a:solidFill>
                <a:latin typeface="Consolas"/>
              </a:rPr>
              <a:t>    intel/             threat lists (*.txt.gz) + meta.json</a:t>
            </a:r>
          </a:p>
          <a:p>
            <a:pPr algn="l"/>
            <a:r>
              <a:rPr sz="1800" b="0">
                <a:solidFill>
                  <a:srgbClr val="E5E7EB"/>
                </a:solidFill>
                <a:latin typeface="Consolas"/>
              </a:rPr>
              <a:t>  static/              index.html, app.js, report.html, report.js, styles.css</a:t>
            </a:r>
          </a:p>
          <a:p>
            <a:pPr algn="l"/>
            <a:r>
              <a:rPr sz="1800" b="0">
                <a:solidFill>
                  <a:srgbClr val="E5E7EB"/>
                </a:solidFill>
                <a:latin typeface="Consolas"/>
              </a:rPr>
              <a:t>scripts/               fetch_intel.py · train.py · evaluate.py · smoke_test.py</a:t>
            </a:r>
          </a:p>
          <a:p>
            <a:pPr algn="l"/>
            <a:r>
              <a:rPr sz="1800" b="0">
                <a:solidFill>
                  <a:srgbClr val="E5E7EB"/>
                </a:solidFill>
                <a:latin typeface="Consolas"/>
              </a:rPr>
              <a:t>tests/                 test_engine.py · test_api.py</a:t>
            </a:r>
          </a:p>
          <a:p>
            <a:pPr algn="l"/>
            <a:r>
              <a:rPr sz="1800" b="0">
                <a:solidFill>
                  <a:srgbClr val="E5E7EB"/>
                </a:solidFill>
                <a:latin typeface="Consolas"/>
              </a:rPr>
              <a:t>data/eval/             scenarios.jsonl (110) · holdout.jsonl (45)</a:t>
            </a:r>
          </a:p>
          <a:p>
            <a:pPr algn="l"/>
            <a:r>
              <a:rPr sz="1800" b="0">
                <a:solidFill>
                  <a:srgbClr val="E5E7EB"/>
                </a:solidFill>
                <a:latin typeface="Consolas"/>
              </a:rPr>
              <a:t>Dockerfile · requirements.txt · requirements-dev.txt · REPORT.md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Recap from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C7D2FE"/>
                </a:solidFill>
                <a:latin typeface="Segoe UI"/>
              </a:rPr>
              <a:t>Where we left 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B6475"/>
                </a:solidFill>
                <a:latin typeface="Segoe UI"/>
              </a:rPr>
              <a:t>FraudLens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111099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64008" cy="786384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10744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>
                <a:solidFill>
                  <a:srgbClr val="1F3A8A"/>
                </a:solidFill>
                <a:latin typeface="Segoe UI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10744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5B6475"/>
                </a:solidFill>
                <a:latin typeface="Segoe UI"/>
              </a:rPr>
              <a:t>Indian scams arrive by SMS, WhatsApp, email and look-alike links — and users get no explanation.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51760"/>
            <a:ext cx="111099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761488"/>
            <a:ext cx="64008" cy="786384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10744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>
                <a:solidFill>
                  <a:srgbClr val="1F3A8A"/>
                </a:solidFill>
                <a:latin typeface="Segoe UI"/>
              </a:rPr>
              <a:t>Our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246120"/>
            <a:ext cx="10744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5B6475"/>
                </a:solidFill>
                <a:latin typeface="Segoe UI"/>
              </a:rPr>
              <a:t>Paste anything in; get a 0–100 risk score, the scam type, every warning sign with evidence, and next steps.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0480"/>
            <a:ext cx="111099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950208"/>
            <a:ext cx="64008" cy="786384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977640"/>
            <a:ext cx="10744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>
                <a:solidFill>
                  <a:srgbClr val="1F3A8A"/>
                </a:solidFill>
                <a:latin typeface="Segoe UI"/>
              </a:rPr>
              <a:t>Today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34840"/>
            <a:ext cx="10744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5B6475"/>
                </a:solidFill>
                <a:latin typeface="Segoe UI"/>
              </a:rPr>
              <a:t>A deep dive into how each layer of the engine finds those warning signs.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Segoe UI"/>
              </a:rPr>
              <a:t>Coming up in Round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"/>
              </a:rPr>
              <a:t>Results and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560320"/>
            <a:ext cx="3291840" cy="2194560"/>
          </a:xfrm>
          <a:prstGeom prst="roundRect">
            <a:avLst>
              <a:gd name="adj" fmla="val 8000"/>
            </a:avLst>
          </a:prstGeom>
          <a:solidFill>
            <a:srgbClr val="2A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697480"/>
            <a:ext cx="2834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Segoe UI"/>
              </a:rPr>
              <a:t>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200400"/>
            <a:ext cx="28346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Segoe UI"/>
              </a:rPr>
              <a:t>Precision and recall on held-out and public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560320"/>
            <a:ext cx="3291840" cy="2194560"/>
          </a:xfrm>
          <a:prstGeom prst="roundRect">
            <a:avLst>
              <a:gd name="adj" fmla="val 8000"/>
            </a:avLst>
          </a:prstGeom>
          <a:solidFill>
            <a:srgbClr val="2A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697480"/>
            <a:ext cx="2834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Segoe UI"/>
              </a:rPr>
              <a:t>Trust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3200400"/>
            <a:ext cx="28346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Segoe UI"/>
              </a:rPr>
              <a:t>Privacy, security and accessibility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560320"/>
            <a:ext cx="3291840" cy="2194560"/>
          </a:xfrm>
          <a:prstGeom prst="roundRect">
            <a:avLst>
              <a:gd name="adj" fmla="val 8000"/>
            </a:avLst>
          </a:prstGeom>
          <a:solidFill>
            <a:srgbClr val="2A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2697480"/>
            <a:ext cx="2834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Segoe UI"/>
              </a:rPr>
              <a:t>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3200400"/>
            <a:ext cx="28346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Segoe UI"/>
              </a:rPr>
              <a:t>Honest limitations and what comes 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