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3" r:id="rId25"/>
    <p:sldId id="259" r:id="rId11"/>
    <p:sldId id="267" r:id="rId19"/>
    <p:sldId id="268" r:id="rId20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/>
              <a:t>Held-out set: what ML adds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Rules + URL only</c:v>
                </c:pt>
              </c:strCache>
            </c:strRef>
          </c:tx>
          <c:spPr>
            <a:solidFill>
              <a:srgbClr val="5B6475"/>
            </a:solidFill>
          </c:spPr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93.8</c:v>
                </c:pt>
                <c:pt idx="1">
                  <c:v>68.2</c:v>
                </c:pt>
                <c:pt idx="2">
                  <c:v>79.0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Full pipeline (+ ML)</c:v>
                </c:pt>
              </c:strCache>
            </c:strRef>
          </c:tx>
          <c:spPr>
            <a:solidFill>
              <a:srgbClr val="1F3A8A"/>
            </a:solidFill>
          </c:spPr>
          <c:cat>
            <c:strRef>
              <c:f>Sheet1!$A$2:$A$4</c:f>
              <c:strCache>
                <c:ptCount val="3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87.0</c:v>
                </c:pt>
                <c:pt idx="1">
                  <c:v>90.9</c:v>
                </c:pt>
                <c:pt idx="2">
                  <c:v>88.9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FraudLens is a web app that tells ordinary people whether a message or link is a scam, and explains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828800"/>
            <a:ext cx="1188720" cy="1188720"/>
          </a:xfrm>
          <a:prstGeom prst="roundRect">
            <a:avLst>
              <a:gd name="adj" fmla="val 8000"/>
            </a:avLst>
          </a:prstGeom>
          <a:solidFill>
            <a:srgbClr val="2A4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onut 2"/>
          <p:cNvSpPr/>
          <p:nvPr/>
        </p:nvSpPr>
        <p:spPr>
          <a:xfrm>
            <a:off x="1024128" y="1993392"/>
            <a:ext cx="658368" cy="658368"/>
          </a:xfrm>
          <a:prstGeom prst="donu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591056" y="2560320"/>
            <a:ext cx="237744" cy="237744"/>
          </a:xfrm>
          <a:prstGeom prst="line">
            <a:avLst/>
          </a:prstGeom>
          <a:ln w="1143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286000" y="1691640"/>
            <a:ext cx="91440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Segoe UI"/>
              </a:rPr>
              <a:t>FraudLens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606040"/>
            <a:ext cx="9144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0">
                <a:solidFill>
                  <a:srgbClr val="C7D2FE"/>
                </a:solidFill>
                <a:latin typeface="Segoe UI"/>
              </a:rPr>
              <a:t>Explainable phishing &amp; digital-fraud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"/>
              </a:rPr>
              <a:t>Paste an SMS, WhatsApp message, email or link — get a risk score, the scam type,</a:t>
            </a:r>
          </a:p>
          <a:p>
            <a:pPr algn="l"/>
            <a:r>
              <a:rPr sz="2000" b="0">
                <a:solidFill>
                  <a:srgbClr val="FFFFFF"/>
                </a:solidFill>
                <a:latin typeface="Segoe UI"/>
              </a:rPr>
              <a:t>every warning sign with evidence, and what to do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F59E0B"/>
                </a:solidFill>
                <a:latin typeface="Segoe UI"/>
              </a:rPr>
              <a:t>Round 3 · Results and impact  ·  Brief CC6-AI05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Example: a fake bank KYC SMS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C7D2FE"/>
                </a:solidFill>
                <a:latin typeface="Segoe UI"/>
              </a:rPr>
              <a:t>Real output from the engine for one of the built-in samples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B6475"/>
                </a:solidFill>
                <a:latin typeface="Segoe UI"/>
              </a:rPr>
              <a:t>FraudLens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109960" cy="86868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81328"/>
            <a:ext cx="1069848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0">
                <a:solidFill>
                  <a:srgbClr val="111827"/>
                </a:solidFill>
                <a:latin typeface="Segoe UI"/>
              </a:rPr>
              <a:t>“Dear Customer, your SBI YONO account will be blocked today. Please update your PAN/KYC immediately: http://sbi-yono-kyc.xyz/update”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14600"/>
            <a:ext cx="3657600" cy="3566160"/>
          </a:xfrm>
          <a:prstGeom prst="roundRect">
            <a:avLst>
              <a:gd name="adj" fmla="val 8000"/>
            </a:avLst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B91C1C"/>
                </a:solidFill>
                <a:latin typeface="Segoe UI"/>
              </a:rPr>
              <a:t>HIGH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0400"/>
            <a:ext cx="329184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B91C1C"/>
                </a:solidFill>
                <a:latin typeface="Segoe UI"/>
              </a:rPr>
              <a:t>100 /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20624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Segoe UI"/>
              </a:rPr>
              <a:t>Fake bank / KYC alert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329184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>
                <a:solidFill>
                  <a:srgbClr val="5B6475"/>
                </a:solidFill>
                <a:latin typeface="Segoe UI"/>
              </a:rPr>
              <a:t>Advice: don't click, reply or pay; verify via the official app; report at cybercrime.gov.in or call 1930.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434840" y="2514600"/>
          <a:ext cx="35661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6400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Message signals</a:t>
                      </a:r>
                    </a:p>
                  </a:txBody>
                  <a:tcPr anchor="ctr">
                    <a:solidFill>
                      <a:srgbClr val="1F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Pts</a:t>
                      </a:r>
                    </a:p>
                  </a:txBody>
                  <a:tcPr anchor="ctr">
                    <a:solidFill>
                      <a:srgbClr val="1F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KYC / PAN update demand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+20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Threat of account block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+15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Urgency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+10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Mentions a bank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+6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Generic greeting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+5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ML model: 91% phishing-like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+39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183879" y="2514600"/>
          <a:ext cx="3474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6400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Link signals</a:t>
                      </a:r>
                    </a:p>
                  </a:txBody>
                  <a:tcPr anchor="ctr">
                    <a:solidFill>
                      <a:srgbClr val="1F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Pts</a:t>
                      </a:r>
                    </a:p>
                  </a:txBody>
                  <a:tcPr anchor="ctr">
                    <a:solidFill>
                      <a:srgbClr val="1F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'sbi' on a domain it doesn't 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+30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Uncommon ending '.xyz'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+10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Not using HTTPS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+8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Login words in link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+8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Not in top-100k sites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+4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URL ML model: 99.9% phishing-like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+40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C7D2FE"/>
                </a:solidFill>
                <a:latin typeface="Segoe UI"/>
              </a:rPr>
              <a:t>Flagged = medium or high. Full details on the /report page and in REPORT.md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B6475"/>
                </a:solidFill>
                <a:latin typeface="Segoe UI"/>
              </a:rPr>
              <a:t>FraudLens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17320"/>
          <a:ext cx="6675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1097280"/>
                <a:gridCol w="10972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Test</a:t>
                      </a:r>
                    </a:p>
                  </a:txBody>
                  <a:tcPr anchor="ctr">
                    <a:solidFill>
                      <a:srgbClr val="1F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Precision</a:t>
                      </a:r>
                    </a:p>
                  </a:txBody>
                  <a:tcPr anchor="ctr">
                    <a:solidFill>
                      <a:srgbClr val="1F3A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Recall</a:t>
                      </a:r>
                    </a:p>
                  </a:txBody>
                  <a:tcPr anchor="ctr">
                    <a:solidFill>
                      <a:srgbClr val="1F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Held-out hand-written set (45)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87.0%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90.9%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Development set (110, used for tuning)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90.9%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2,000 unseen public URLs (intel off)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97.8%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71.0%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1,000 held-out emails / SMS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92.2%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81.9%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300 live OpenPhish URLs (feed off)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76.0%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Text model alone (4,028)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96.0%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97.3%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URL model alone (60,000)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92.9%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111827"/>
                          </a:solidFill>
                          <a:latin typeface="Segoe UI"/>
                        </a:rPr>
                        <a:t>94.1%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406640" y="1371600"/>
          <a:ext cx="429768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257800"/>
            <a:ext cx="1115568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5B6475"/>
                </a:solidFill>
                <a:latin typeface="Segoe UI"/>
              </a:rPr>
              <a:t>Speed: ≈12 ms per item on average (p95 ≈ 16 ms) without the live check.</a:t>
            </a:r>
          </a:p>
          <a:p>
            <a:pPr algn="l"/>
            <a:r>
              <a:rPr sz="1500" b="0">
                <a:solidFill>
                  <a:srgbClr val="5B6475"/>
                </a:solidFill>
                <a:latin typeface="Segoe UI"/>
              </a:rPr>
              <a:t>ML raises recall from 68% to 91% on unseen messages, at the cost of a few more false alarms.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User experience, privacy and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C7D2FE"/>
                </a:solidFill>
                <a:latin typeface="Segoe UI"/>
              </a:rPr>
              <a:t>Plain HTML, CSS and JavaScript — no framework, no build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B6475"/>
                </a:solidFill>
                <a:latin typeface="Segoe UI"/>
              </a:rPr>
              <a:t>FraudLens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35661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64008" cy="343814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F3A8A"/>
                </a:solidFill>
                <a:latin typeface="Segoe UI"/>
              </a:rPr>
              <a:t>Analyser page (/)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32461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•  8 one-click samples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•  Colour-coded verdict and meter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•  Indicators with evidence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•  Link cards and email headers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•  History kept in the browser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463040"/>
            <a:ext cx="35661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5968" y="1572768"/>
            <a:ext cx="64008" cy="343814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6002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F3A8A"/>
                </a:solidFill>
                <a:latin typeface="Segoe UI"/>
              </a:rPr>
              <a:t>Report page (/report)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057400"/>
            <a:ext cx="32461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•  Headline metric cards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•  Precision / recall tables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•  Every miss and false alarm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•  Limitations stated openly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•  API docs at /docs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463040"/>
            <a:ext cx="356616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1572768"/>
            <a:ext cx="64008" cy="343814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600200"/>
            <a:ext cx="3200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Segoe UI"/>
              </a:rPr>
              <a:t>Privacy &amp;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057400"/>
            <a:ext cx="324612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•  Analysed in memory, never stored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•  Logs: type, level, score, time only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•  Strict Content-Security-Policy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•  30 analyses / minute per IP</a:t>
            </a:r>
          </a:p>
          <a:p>
            <a:pPr>
              <a:spcAft>
                <a:spcPts val="400"/>
              </a:spcAft>
            </a:pPr>
            <a:r>
              <a:rPr sz="1600">
                <a:solidFill>
                  <a:srgbClr val="111827"/>
                </a:solidFill>
                <a:latin typeface="Segoe UI"/>
              </a:rPr>
              <a:t>•  Live check opt-in; blocks private 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349240"/>
            <a:ext cx="11109960" cy="82296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349240"/>
            <a:ext cx="1069848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0">
                <a:solidFill>
                  <a:srgbClr val="1F3A8A"/>
                </a:solidFill>
                <a:latin typeface="Segoe UI"/>
              </a:rPr>
              <a:t>Accessible: screen-reader labels, live result announcements, visible keyboard focus, reduced-motion support, mobile layout.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Limitations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C7D2FE"/>
                </a:solidFill>
                <a:latin typeface="Segoe UI"/>
              </a:rPr>
              <a:t>Stated openly in the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B6475"/>
                </a:solidFill>
                <a:latin typeface="Segoe UI"/>
              </a:rPr>
              <a:t>FraudLens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48640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64008" cy="444398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5120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1">
                <a:solidFill>
                  <a:srgbClr val="B91C1C"/>
                </a:solidFill>
                <a:latin typeface="Segoe UI"/>
              </a:rPr>
              <a:t>Limitations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57400"/>
            <a:ext cx="516636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•  Small hand-written test sets (wide confidence intervals)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•  Training text is mostly English email; Indian SMS relies on rules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•  Genuine bank alerts can score medium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•  Phishing on big platforms gets less help from reputation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•  Intel is a snapshot; must be refreshed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•  Text only: no images, QR codes, attachments or calls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539496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72768"/>
            <a:ext cx="64008" cy="4443984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600200"/>
            <a:ext cx="5029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100" b="1">
                <a:solidFill>
                  <a:srgbClr val="166534"/>
                </a:solidFill>
                <a:latin typeface="Segoe UI"/>
              </a:rPr>
              <a:t>Future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057400"/>
            <a:ext cx="507492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•  Larger Indian SMS / WhatsApp dataset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•  Hindi and other Indian languages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•  QR-code and screenshot (OCR) analysis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•  Scheduled automatic intel refresh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•  Browser extension and WhatsApp bot</a:t>
            </a:r>
          </a:p>
          <a:p>
            <a:pPr>
              <a:spcAft>
                <a:spcPts val="400"/>
              </a:spcAft>
            </a:pPr>
            <a:r>
              <a:rPr sz="1800">
                <a:solidFill>
                  <a:srgbClr val="111827"/>
                </a:solidFill>
                <a:latin typeface="Segoe UI"/>
              </a:rPr>
              <a:t>•  Shared rate limit for multi-instance hosting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Try it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737360"/>
            <a:ext cx="10515600" cy="237744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737360"/>
            <a:ext cx="10058400" cy="23774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900" b="0">
                <a:solidFill>
                  <a:srgbClr val="E5E7EB"/>
                </a:solidFill>
                <a:latin typeface="Consolas"/>
              </a:rPr>
              <a:t>python -m venv .venv</a:t>
            </a:r>
          </a:p>
          <a:p>
            <a:pPr algn="l"/>
            <a:r>
              <a:rPr sz="1900" b="0">
                <a:solidFill>
                  <a:srgbClr val="E5E7EB"/>
                </a:solidFill>
                <a:latin typeface="Consolas"/>
              </a:rPr>
              <a:t>.venv\Scripts\pip install -r requirements-dev.txt</a:t>
            </a:r>
          </a:p>
          <a:p>
            <a:pPr algn="l"/>
            <a:r>
              <a:rPr sz="1900" b="0">
                <a:solidFill>
                  <a:srgbClr val="E5E7EB"/>
                </a:solidFill>
                <a:latin typeface="Consolas"/>
              </a:rPr>
              <a:t>mkdir data\raw;  .venv\Scripts\python scripts\fetch_intel.py</a:t>
            </a:r>
          </a:p>
          <a:p>
            <a:pPr algn="l"/>
            <a:r>
              <a:rPr sz="1900" b="0">
                <a:solidFill>
                  <a:srgbClr val="E5E7EB"/>
                </a:solidFill>
                <a:latin typeface="Consolas"/>
              </a:rPr>
              <a:t>.venv\Scripts\uvicorn app.main:app --reload      # http://127.0.0.1:8000</a:t>
            </a:r>
          </a:p>
          <a:p>
            <a:pPr algn="l"/>
            <a:r>
              <a:rPr sz="1900" b="0">
                <a:solidFill>
                  <a:srgbClr val="E5E7EB"/>
                </a:solidFill>
                <a:latin typeface="Consolas"/>
              </a:rPr>
              <a:t>.venv\Scripts\python -m pytest -q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59E0B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"/>
              </a:rPr>
              <a:t>Lost money to a scam? Call 1930 or report at cybercrime.gov.in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Recap from Rounds 1 and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C7D2FE"/>
                </a:solidFill>
                <a:latin typeface="Segoe UI"/>
              </a:rPr>
              <a:t>Where we left 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82296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475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1">
                <a:solidFill>
                  <a:srgbClr val="5B6475"/>
                </a:solidFill>
                <a:latin typeface="Segoe UI"/>
              </a:rPr>
              <a:t>FraudLens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111099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64008" cy="78638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10744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1F3A8A"/>
                </a:solidFill>
                <a:latin typeface="Segoe UI"/>
              </a:rPr>
              <a:t>Round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10744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5B6475"/>
                </a:solidFill>
                <a:latin typeface="Segoe UI"/>
              </a:rPr>
              <a:t>The problem, our solution and a live demo of the analyser.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651760"/>
            <a:ext cx="111099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761488"/>
            <a:ext cx="64008" cy="78638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10744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1F3A8A"/>
                </a:solidFill>
                <a:latin typeface="Segoe UI"/>
              </a:rPr>
              <a:t>Round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246120"/>
            <a:ext cx="10744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5B6475"/>
                </a:solidFill>
                <a:latin typeface="Segoe UI"/>
              </a:rPr>
              <a:t>The engine: normalisation, rules, link analysis, two ML models, threat intelligence and scoring.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40480"/>
            <a:ext cx="1110996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950208"/>
            <a:ext cx="64008" cy="786384"/>
          </a:xfrm>
          <a:prstGeom prst="rect">
            <a:avLst/>
          </a:prstGeom>
          <a:solidFill>
            <a:srgbClr val="1F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77640"/>
            <a:ext cx="107442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900" b="1">
                <a:solidFill>
                  <a:srgbClr val="1F3A8A"/>
                </a:solidFill>
                <a:latin typeface="Segoe UI"/>
              </a:rPr>
              <a:t>Today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34840"/>
            <a:ext cx="10744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5B6475"/>
                </a:solidFill>
                <a:latin typeface="Segoe UI"/>
              </a:rPr>
              <a:t>How well it works, how it protects users, its limits and our roadmap.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